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notesMaster" Target="notesMasters/notesMaster1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by aligning the work with optimization, control, and intelligent systems. Say that the novelty is not only the network architecture, but the model-selection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this slide practical. Emphasize that dominant classes such as grass or sky can inflate performance while hazardous classes remain poorly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slide that should resonate most with Dr. Abido. Frame the issue as an objective-function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 clearly that this is the central scientific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 this as a modular engineering system. That framing aligns well with control and decision-support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this connects confusion statistics, class imbalance, and behavioral cost in one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Say explicitly: “I am treating perception selection as an optimization problem under asymmetric risk.”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clear that the work has two pillars: evaluation framework and model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this slide brief and engineering-oriented.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 not overclaim. Say “preliminary evidence” and “suggests” rather than “proves.”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should read like thesis contributions, not just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asked, mention that the timeline assumes code reuse from existing baselines where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with the phrase: “optimization, intelligent systems, and safety-aware autonomy.”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if you want to invite research discussion after the main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Behavior-Aware Evaluation and Improvement of LiDAR-Based Off-Road Terrain Perception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</a:t>
            </a:r>
            <a:br/>
            <a:br/>
            <a:r>
              <a:rPr/>
              <a:t>Mahmoud Abdelaal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 and framing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Behavior-Aware Evaluation and Improvement of LiDAR-Based Off-Road Terrain Perception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Positioning for Dr. Abido:</a:t>
            </a:r>
          </a:p>
          <a:p>
            <a:pPr lvl="0"/>
            <a:r>
              <a:rPr/>
              <a:t>This is not only a perception problem.</a:t>
            </a:r>
          </a:p>
          <a:p>
            <a:pPr lvl="0"/>
            <a:r>
              <a:rPr/>
              <a:t>It is a </a:t>
            </a:r>
            <a:r>
              <a:rPr b="1"/>
              <a:t>risk-sensitive decision and optimization problem</a:t>
            </a:r>
            <a:r>
              <a:rPr/>
              <a:t> for autonomous systems.</a:t>
            </a:r>
          </a:p>
          <a:p>
            <a:pPr lvl="0"/>
            <a:r>
              <a:rPr/>
              <a:t>The key question is not only </a:t>
            </a:r>
            <a:r>
              <a:rPr i="1"/>
              <a:t>“How accurate is the segmentation?”</a:t>
            </a:r>
          </a:p>
          <a:p>
            <a:pPr lvl="0"/>
            <a:r>
              <a:rPr/>
              <a:t>The key question is </a:t>
            </a:r>
            <a:r>
              <a:rPr i="1"/>
              <a:t>“Does the selected model support safer autonomous behavior?”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this problem matters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Off-road autonomy is fundamentally safety-critical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Off-road environments are </a:t>
            </a:r>
            <a:r>
              <a:rPr b="1"/>
              <a:t>unstructured, imbalanced, and operationally harsh</a:t>
            </a:r>
            <a:r>
              <a:rPr/>
              <a:t>.</a:t>
            </a:r>
          </a:p>
          <a:p>
            <a:pPr lvl="0"/>
            <a:r>
              <a:rPr/>
              <a:t>Rare terrain classes such as </a:t>
            </a:r>
            <a:r>
              <a:rPr b="1"/>
              <a:t>mud, puddles, water, holes, and rocks</a:t>
            </a:r>
            <a:r>
              <a:rPr/>
              <a:t> may dominate failure risk.</a:t>
            </a:r>
          </a:p>
          <a:p>
            <a:pPr lvl="0"/>
            <a:r>
              <a:rPr/>
              <a:t>Standard perception metrics can hide dangerous behavior on these rare classes.</a:t>
            </a:r>
          </a:p>
          <a:p>
            <a:pPr lvl="0"/>
            <a:r>
              <a:rPr/>
              <a:t>Therefore, a model with higher mIoU is </a:t>
            </a:r>
            <a:r>
              <a:rPr b="1"/>
              <a:t>not necessarily the safer model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Core motivation:</a:t>
            </a:r>
            <a:r>
              <a:rPr/>
              <a:t> perception should be evaluated according to its effect on navigation-relevant risk.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Research gap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Gap between perception metrics and real behavior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Current practice usually assumes: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Higher mIoU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rPr>
                          <m:nor/>
                          <m:sty m:val="p"/>
                        </m:rPr>
                        <m:t>better deployment behavior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this assumption can fail because of:</a:t>
                </a:r>
              </a:p>
              <a:p>
                <a:pPr lvl="0"/>
                <a:r>
                  <a:rPr b="1"/>
                  <a:t>class imbalance</a:t>
                </a:r>
                <a:r>
                  <a:rPr/>
                  <a:t>,</a:t>
                </a:r>
              </a:p>
              <a:p>
                <a:pPr lvl="0"/>
                <a:r>
                  <a:rPr b="1"/>
                  <a:t>asymmetric misclassification costs</a:t>
                </a:r>
                <a:r>
                  <a:rPr/>
                  <a:t>, and</a:t>
                </a:r>
              </a:p>
              <a:p>
                <a:pPr lvl="0"/>
                <a:r>
                  <a:rPr b="1"/>
                  <a:t>safety-critical false-safe errors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perception model may look strong under standard metrics while still producing </a:t>
            </a:r>
            <a:r>
              <a:rPr b="1"/>
              <a:t>unsafe downstream decisions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Main idea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accuracy-only evaluation to behavior-aware model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set of candidate models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Θ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:r>
                  <a:rPr/>
                  <a:t>Standard selection uses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θ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metric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sty m:val="p"/>
                            </m:rPr>
                            <m:t>Θ</m:t>
                          </m:r>
                        </m:lim>
                      </m:limLow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I</m:t>
                      </m:r>
                      <m:r>
                        <m:rPr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Proposed selection uses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sty m:val="p"/>
                            </m:rPr>
                            <m:t>Θ</m:t>
                          </m:r>
                        </m:lim>
                      </m:limLow>
                      <m: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is a </a:t>
                </a:r>
                <a:r>
                  <a:rPr b="1"/>
                  <a:t>behavior-aware expected risk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best model under mIoU may not be the best model under safety-relevant risk.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System-level view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Sensor input</a:t>
            </a:r>
            <a:r>
              <a:rPr/>
              <a:t> (LiDAR, and potentially multimodal extensions later)</a:t>
            </a:r>
          </a:p>
          <a:p>
            <a:pPr lvl="0" indent="-342900" marL="342900">
              <a:buAutoNum type="arabicPeriod"/>
            </a:pPr>
            <a:r>
              <a:rPr b="1"/>
              <a:t>Terrain classification / traversability estimation</a:t>
            </a:r>
          </a:p>
          <a:p>
            <a:pPr lvl="0" indent="-342900" marL="342900">
              <a:buAutoNum type="arabicPeriod"/>
            </a:pPr>
            <a:r>
              <a:rPr b="1"/>
              <a:t>Cost-aware hazard interpretation</a:t>
            </a:r>
          </a:p>
          <a:p>
            <a:pPr lvl="0" indent="-342900" marL="342900">
              <a:buAutoNum type="arabicPeriod"/>
            </a:pPr>
            <a:r>
              <a:rPr b="1"/>
              <a:t>Near-field hazard aggregation</a:t>
            </a:r>
          </a:p>
          <a:p>
            <a:pPr lvl="0" indent="-342900" marL="342900">
              <a:buAutoNum type="arabicPeriod"/>
            </a:pPr>
            <a:r>
              <a:rPr b="1"/>
              <a:t>Safest heading recommendation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Main focus: </a:t>
            </a:r>
            <a:r>
              <a:rPr b="1"/>
              <a:t>environmental perception</a:t>
            </a:r>
          </a:p>
          <a:p>
            <a:pPr lvl="0"/>
            <a:r>
              <a:rPr/>
              <a:t>Output is linked to downstream behavior</a:t>
            </a:r>
          </a:p>
          <a:p>
            <a:pPr lvl="0"/>
            <a:r>
              <a:rPr/>
              <a:t>Full global planning is </a:t>
            </a:r>
            <a:r>
              <a:rPr b="1"/>
              <a:t>not</a:t>
            </a:r>
            <a:r>
              <a:rPr/>
              <a:t> the main scope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Mathematical formulation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Misclassification cost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cost of predicting class </m:t>
                      </m:r>
                      <m:r>
                        <m:t>i</m:t>
                      </m:r>
                      <m:r>
                        <m:rPr>
                          <m:nor/>
                          <m:sty m:val="p"/>
                        </m:rPr>
                        <m:t> when the true class is </m:t>
                      </m:r>
                      <m:r>
                        <m:t>j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high penalties assigned to dangerous confusions, especially:</a:t>
                </a:r>
              </a:p>
              <a:p>
                <a:pPr lvl="0"/>
                <a:r>
                  <a:rPr/>
                  <a:t>predicting </a:t>
                </a:r>
                <a:r>
                  <a:rPr b="1"/>
                  <a:t>safe</a:t>
                </a:r>
                <a:r>
                  <a:rPr/>
                  <a:t> when the truth is </a:t>
                </a:r>
                <a:r>
                  <a:rPr b="1"/>
                  <a:t>hazardous</a:t>
                </a:r>
                <a:r>
                  <a:rPr/>
                  <a:t>,</a:t>
                </a:r>
              </a:p>
              <a:p>
                <a:pPr lvl="0"/>
                <a:r>
                  <a:rPr/>
                  <a:t>underestimating </a:t>
                </a:r>
                <a:r>
                  <a:rPr b="1"/>
                  <a:t>stuck</a:t>
                </a:r>
                <a:r>
                  <a:rPr/>
                  <a:t> or </a:t>
                </a:r>
                <a:r>
                  <a:rPr b="1"/>
                  <a:t>water</a:t>
                </a:r>
                <a:r>
                  <a:rPr/>
                  <a:t> regions,</a:t>
                </a:r>
              </a:p>
              <a:p>
                <a:pPr lvl="0"/>
                <a:r>
                  <a:rPr/>
                  <a:t>confusing risk-critical rare classes with benign terrain.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behavioral risk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K</m:t>
                          </m:r>
                        </m:sup>
                        <m:e>
                          <m:sSub>
                            <m:e>
                              <m:r>
                                <m:t>π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K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π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empirical class frequency,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is the conditional confusion probability.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this framing matches Dr. Abido’s background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should be interesting from an optimization and intelligent-systems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work can be interpreted as:</a:t>
            </a:r>
          </a:p>
          <a:p>
            <a:pPr lvl="0"/>
            <a:r>
              <a:rPr/>
              <a:t>a </a:t>
            </a:r>
            <a:r>
              <a:rPr b="1"/>
              <a:t>cost-function design problem</a:t>
            </a:r>
            <a:r>
              <a:rPr/>
              <a:t>,</a:t>
            </a:r>
          </a:p>
          <a:p>
            <a:pPr lvl="0"/>
            <a:r>
              <a:rPr/>
              <a:t>a </a:t>
            </a:r>
            <a:r>
              <a:rPr b="1"/>
              <a:t>risk-sensitive model-selection problem</a:t>
            </a:r>
            <a:r>
              <a:rPr/>
              <a:t>,</a:t>
            </a:r>
          </a:p>
          <a:p>
            <a:pPr lvl="0"/>
            <a:r>
              <a:rPr/>
              <a:t>an </a:t>
            </a:r>
            <a:r>
              <a:rPr b="1"/>
              <a:t>intelligent decision-support problem</a:t>
            </a:r>
            <a:r>
              <a:rPr/>
              <a:t>, and</a:t>
            </a:r>
          </a:p>
          <a:p>
            <a:pPr lvl="0"/>
            <a:r>
              <a:rPr/>
              <a:t>a </a:t>
            </a:r>
            <a:r>
              <a:rPr b="1"/>
              <a:t>system-level evaluation problem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positioning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contribution is not only a better perception model, but a better </a:t>
            </a:r>
            <a:r>
              <a:rPr b="1"/>
              <a:t>criterion for selecting and evaluating models</a:t>
            </a:r>
            <a:r>
              <a:rPr/>
              <a:t> in safety-critical deployment.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Candidate LiDAR architectures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LiDAR-based models to be studied and improved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FASTC-style architecture</a:t>
            </a:r>
          </a:p>
          <a:p>
            <a:pPr lvl="0"/>
            <a:r>
              <a:rPr/>
              <a:t>attentional framework for semantic traversability classification,</a:t>
            </a:r>
          </a:p>
          <a:p>
            <a:pPr lvl="0"/>
            <a:r>
              <a:rPr/>
              <a:t>efficient feature extraction from point clouds,</a:t>
            </a:r>
          </a:p>
          <a:p>
            <a:pPr lvl="0"/>
            <a:r>
              <a:rPr/>
              <a:t>opportunity to refine attention and fusion design.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BEVNet-style architecture with sparse 3D convolution</a:t>
            </a:r>
          </a:p>
          <a:p>
            <a:pPr lvl="0"/>
            <a:r>
              <a:rPr/>
              <a:t>voxelization and sparse 3D feature extraction,</a:t>
            </a:r>
          </a:p>
          <a:p>
            <a:pPr lvl="0"/>
            <a:r>
              <a:rPr/>
              <a:t>residual modules,</a:t>
            </a:r>
          </a:p>
          <a:p>
            <a:pPr lvl="0"/>
            <a:r>
              <a:rPr/>
              <a:t>attention mechanisms,</a:t>
            </a:r>
          </a:p>
          <a:p>
            <a:pPr lvl="0"/>
            <a:r>
              <a:rPr/>
              <a:t>temporal aggregation for BEV traversability recognition.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not treated as fixed baselines only; they are </a:t>
            </a:r>
            <a:r>
              <a:rPr b="1"/>
              <a:t>candidate backbones for improvement</a:t>
            </a:r>
            <a:r>
              <a:rPr/>
              <a:t>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LiDAR in this proposal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prioritize LiDAR for the main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LiDAR provides </a:t>
            </a:r>
            <a:r>
              <a:rPr b="1"/>
              <a:t>terrain geometry and obstacle structure</a:t>
            </a:r>
            <a:r>
              <a:rPr/>
              <a:t> directly.</a:t>
            </a:r>
          </a:p>
          <a:p>
            <a:pPr lvl="0"/>
            <a:r>
              <a:rPr/>
              <a:t>It supports traversability reasoning in unstructured environments.</a:t>
            </a:r>
          </a:p>
          <a:p>
            <a:pPr lvl="0"/>
            <a:r>
              <a:rPr/>
              <a:t>It is well suited for </a:t>
            </a:r>
            <a:r>
              <a:rPr b="1"/>
              <a:t>BEV hazard representation</a:t>
            </a:r>
            <a:r>
              <a:rPr/>
              <a:t>.</a:t>
            </a:r>
          </a:p>
          <a:p>
            <a:pPr lvl="0"/>
            <a:r>
              <a:rPr/>
              <a:t>It provides a strong base before extending to multimodal fusion.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clarification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framework itself remains conceptually flexible and can later support RGB, semantic, geometric, or hybrid sensing pipelines.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Preliminary evidence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results already support the hypothesis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Your preliminary study suggests:</a:t>
                </a:r>
              </a:p>
              <a:p>
                <a:pPr lvl="0"/>
                <a:r>
                  <a:rPr/>
                  <a:t>severe </a:t>
                </a:r>
                <a:r>
                  <a:rPr b="1"/>
                  <a:t>class imbalance</a:t>
                </a:r>
                <a:r>
                  <a:rPr/>
                  <a:t> in RELLIS-3D,</a:t>
                </a:r>
              </a:p>
              <a:p>
                <a:pPr lvl="0"/>
                <a:r>
                  <a:rPr/>
                  <a:t>hazardous classes receive very low representation,</a:t>
                </a:r>
              </a:p>
              <a:p>
                <a:pPr lvl="0"/>
                <a:r>
                  <a:rPr/>
                  <a:t>standard mIoU can rank models differently from behavior-aware criteria,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b</m:t>
                        </m:r>
                        <m:r>
                          <m:t>e</m:t>
                        </m:r>
                        <m:r>
                          <m:t>h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better reflect safety-relevant performance.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early evidence of a </a:t>
            </a:r>
            <a:r>
              <a:rPr b="1"/>
              <a:t>metrics-behavior mismatch</a:t>
            </a:r>
            <a:r>
              <a:rPr/>
              <a:t> in off-road terrain perception.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Expected contributions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Behavior-aware evaluation framework</a:t>
            </a:r>
            <a:r>
              <a:rPr/>
              <a:t> for off-road terrain perception</a:t>
            </a:r>
          </a:p>
          <a:p>
            <a:pPr lvl="0" indent="-342900" marL="342900">
              <a:buAutoNum type="arabicPeriod"/>
            </a:pPr>
            <a:r>
              <a:rPr b="1"/>
              <a:t>Decision-theoretic risk formulation</a:t>
            </a:r>
            <a:r>
              <a:rPr/>
              <a:t> using a misclassification cost matrix</a:t>
            </a:r>
          </a:p>
          <a:p>
            <a:pPr lvl="0" indent="-342900" marL="342900">
              <a:buAutoNum type="arabicPeriod"/>
            </a:pPr>
            <a:r>
              <a:rPr b="1"/>
              <a:t>Quantitative mismatch analysis</a:t>
            </a:r>
            <a:r>
              <a:rPr/>
              <a:t> between mIoU and behavioral risk</a:t>
            </a:r>
          </a:p>
          <a:p>
            <a:pPr lvl="0" indent="-342900" marL="342900">
              <a:buAutoNum type="arabicPeriod"/>
            </a:pPr>
            <a:r>
              <a:rPr b="1"/>
              <a:t>Behavior-aware evaluation metric(s)</a:t>
            </a:r>
            <a:r>
              <a:rPr/>
              <a:t> such as weighted IoU variants</a:t>
            </a:r>
          </a:p>
          <a:p>
            <a:pPr lvl="0" indent="-342900" marL="342900">
              <a:buAutoNum type="arabicPeriod"/>
            </a:pPr>
            <a:r>
              <a:rPr b="1"/>
              <a:t>Improved LiDAR-based models</a:t>
            </a:r>
            <a:r>
              <a:rPr/>
              <a:t> based on FASTC-style and BEVNet-style designs</a:t>
            </a:r>
          </a:p>
          <a:p>
            <a:pPr lvl="0" indent="-342900" marL="342900">
              <a:buAutoNum type="arabicPeriod"/>
            </a:pPr>
            <a:r>
              <a:rPr b="1"/>
              <a:t>Perception-to-hazard-to-heading pipeline</a:t>
            </a:r>
            <a:r>
              <a:rPr/>
              <a:t> for end-to-end validation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 plan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timeline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Months 1–2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Literature review, dataset selection, preprocessing, baseline setup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Months 3–4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 candidate models, compute IoU and mIoU, identify failure cases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Months 5–6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Define cost matrix, compute behavioral risk, compare metric-optimal vs risk-optimal 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Months 7–8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behavior-aware metrics, validate alignment, implement hazard map and heading pipeline, finalize thesis results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proposal shifts off-road terrain perception from:</a:t>
            </a:r>
          </a:p>
          <a:p>
            <a:pPr lvl="0"/>
            <a:r>
              <a:rPr b="1"/>
              <a:t>accuracy-only evaluation</a:t>
            </a:r>
          </a:p>
          <a:p>
            <a:pPr lvl="0" indent="0" marL="0">
              <a:buNone/>
            </a:pPr>
            <a:r>
              <a:rPr/>
              <a:t>into:</a:t>
            </a:r>
          </a:p>
          <a:p>
            <a:pPr lvl="0"/>
            <a:r>
              <a:rPr b="1"/>
              <a:t>risk-aware, behavior-aligned model selection</a:t>
            </a:r>
            <a:r>
              <a:rPr/>
              <a:t>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one-sentence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proposed work studies how to improve LiDAR-based terrain perception models </a:t>
            </a:r>
            <a:r>
              <a:rPr b="1"/>
              <a:t>and</a:t>
            </a:r>
            <a:r>
              <a:rPr/>
              <a:t> how to evaluate them using a decision-theoretic criterion that better supports safe autonomous behavior in off-road environments.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Optional final discussion slide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Anticipated discussion points with Dr. Abido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How should the cost matrix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be designed or learned?</a:t>
                </a:r>
              </a:p>
              <a:p>
                <a:pPr lvl="0"/>
                <a:r>
                  <a:rPr/>
                  <a:t>Can the framework be extended toward </a:t>
                </a:r>
                <a:r>
                  <a:rPr b="1"/>
                  <a:t>formal optimization of deployment utility</a:t>
                </a:r>
                <a:r>
                  <a:rPr/>
                  <a:t>?</a:t>
                </a:r>
              </a:p>
              <a:p>
                <a:pPr lvl="0"/>
                <a:r>
                  <a:rPr/>
                  <a:t>How should behavior-aware evaluation trade off safety and conservatism?</a:t>
                </a:r>
              </a:p>
              <a:p>
                <a:pPr lvl="0"/>
                <a:r>
                  <a:rPr/>
                  <a:t>Can this framework later support multimodal or uncertainty-aware extensions?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Behavior-Aware Evaluation and Improvement of LiDAR-Based Off-Road Terrain Perception Algorithms</dc:title>
  <dc:creator>Mahmoud Abdelaal</dc:creator>
  <cp:keywords/>
  <dcterms:created xsi:type="dcterms:W3CDTF">2026-04-13T02:42:53Z</dcterms:created>
  <dcterms:modified xsi:type="dcterms:W3CDTF">2026-04-13T02:42:53Z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presentation</vt:lpwstr>
  </property>
  <property fmtid="{D5CDD505-2E9C-101B-9397-08002B2CF9AE}" pid="12" name="toc-title">
    <vt:lpwstr>Table of contents</vt:lpwstr>
  </property>
</Properties>
</file>